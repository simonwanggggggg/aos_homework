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92" r:id="rId2"/>
    <p:sldId id="657" r:id="rId3"/>
    <p:sldId id="709" r:id="rId4"/>
    <p:sldId id="715" r:id="rId5"/>
    <p:sldId id="708" r:id="rId6"/>
    <p:sldId id="661" r:id="rId7"/>
    <p:sldId id="716" r:id="rId8"/>
    <p:sldId id="717" r:id="rId9"/>
    <p:sldId id="718" r:id="rId10"/>
    <p:sldId id="719" r:id="rId11"/>
    <p:sldId id="720" r:id="rId12"/>
    <p:sldId id="721" r:id="rId13"/>
    <p:sldId id="722" r:id="rId14"/>
    <p:sldId id="723" r:id="rId15"/>
    <p:sldId id="724" r:id="rId16"/>
    <p:sldId id="725" r:id="rId17"/>
    <p:sldId id="726" r:id="rId18"/>
    <p:sldId id="727" r:id="rId19"/>
    <p:sldId id="728" r:id="rId20"/>
    <p:sldId id="729" r:id="rId21"/>
    <p:sldId id="730" r:id="rId22"/>
    <p:sldId id="731" r:id="rId23"/>
    <p:sldId id="732" r:id="rId24"/>
    <p:sldId id="733" r:id="rId25"/>
    <p:sldId id="734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廷安 張" initials="廷安" lastIdx="1" clrIdx="0">
    <p:extLst>
      <p:ext uri="{19B8F6BF-5375-455C-9EA6-DF929625EA0E}">
        <p15:presenceInfo xmlns:p15="http://schemas.microsoft.com/office/powerpoint/2012/main" userId="55319b3ea971a31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6FC1D7"/>
    <a:srgbClr val="3FABC9"/>
    <a:srgbClr val="FF99CC"/>
    <a:srgbClr val="35A0BD"/>
    <a:srgbClr val="2E75B6"/>
    <a:srgbClr val="5B9BD5"/>
    <a:srgbClr val="2F559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336" autoAdjust="0"/>
  </p:normalViewPr>
  <p:slideViewPr>
    <p:cSldViewPr snapToGrid="0">
      <p:cViewPr varScale="1">
        <p:scale>
          <a:sx n="86" d="100"/>
          <a:sy n="86" d="100"/>
        </p:scale>
        <p:origin x="715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B572E-CF79-4C4C-A82D-2C13A60E0D18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304F7-8D10-485E-BC6D-5EF96811EF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74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68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47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2DB1-6858-A423-728C-6497A7ED2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47C253D-ADB3-59DA-3CA8-F69AE6A5D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E24E15-FE4E-4314-93C3-A3283BCA6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13AEEE-FB72-32FF-9F70-6DA6BAE58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416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70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501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EF4CF-3953-9361-986B-D8707BC9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C5E0AD0-35D1-3339-B4EA-5CC4D730B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8BA61C-09A0-DDE7-A2B5-ED479D905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056E55-E7C7-67B8-523E-47E7CD9CB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49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CC381-3818-CAA4-AA9A-60E95081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BED10EB-B160-B2B1-9F19-89F3CAAF8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666B63-8015-732E-A7BF-136A1256E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3890B1-7B20-4951-820C-61A16B267C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955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C8B2-57B9-E5D0-C5F2-678C5030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DF9C046-DF41-5B25-B3E2-FA7C69255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F6D3FB-6B15-C074-0ED5-A3E982CBF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AF966F-1A0A-04F9-575E-1B54A6416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739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F637A-7E22-0C6D-8FF0-66BFA754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04571CB-026E-2E39-16F9-F2F3B12E7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B2DC61-D745-7630-F5F6-317ABF12D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725268-A1C1-4662-9136-B8165ABC5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164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3492-C917-8179-B697-A4133205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3492242-F917-EE0F-BEEA-F8B355115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202D2B-A234-5E82-2AD6-151558E7B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A25097-6CA9-2087-4816-0903C82B76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024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0718C-4102-BA06-4160-CE23CCBFF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8C77BA1-43D8-7CB7-42DB-B838CDB7F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693CF5-0EBF-225C-2230-49A44BFE8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30A3D2-F8E0-F8AE-2575-7303CE9AE6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585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B164-28E3-1CEE-33E8-0224C7D7A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EF9F2C1-E3CF-C8A0-CDBF-29AA14899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242A40-8205-728E-903D-0EE17ABE9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01E1D6-3658-448A-21AC-112717997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492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46D2-8055-A8F6-2184-B2D4FE42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984802D-9F77-2291-3C11-6DC49024F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C45C34F-1107-902F-9274-2C3FCB1D0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1FCBA4-8B85-DCF8-EFAE-1002F2598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300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FC6D-F930-400B-6D46-C1F787C5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2F0ED8A-7547-B8A5-B9A6-312691087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2AE7F8-7577-BDA8-1E71-EF2B327B2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C3CBC7-2152-262F-A6EB-942AECB31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621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B5FE-602B-72D5-BCE7-E2A61FDE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535C0BF-F232-D406-8B92-9E2F8E9F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069E40-8F3F-D46D-1C58-E15780DC8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47966C-7E73-30C6-1CBB-BE61BD258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7007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E817-3068-8314-19E9-1DD1C74E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09E7A68-1C8E-156C-9A8A-D97312E6E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B1B1AB-D9C7-5D6A-B04B-2E08E80F8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2CB8BF-1AAD-73B6-E8A1-6A1E77A58D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996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4D49-BF4D-D491-6656-4045EA09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BAF2B57-D16A-8AF4-7E44-A19030A29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F6E363-8A0D-81A5-E7AA-414ADCADA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FBDA7D-47F3-54E5-A30F-2C239C4BB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5871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FE84-F6AE-B33C-2659-D21CB8FD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7872F2F-9614-20E8-2482-4208D7FA1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0B0D48-26BB-0887-C46F-BE915888C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9E67CD-180C-827B-CADE-80F5D2465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092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43E9-50A7-CDAA-6FE4-A249F194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B9093B7-2CE2-21F6-1AE3-F353EDE5A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F33EB3-DEBA-94E1-100B-A7E5C2A4C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A74584-6468-758C-A577-D6ED17F6E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381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631FF-56ED-9858-6B51-8ED464F3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AD3ED93-F2BF-AEDF-2668-EF733DC63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4FB5BF-11B8-F67B-0147-698EE4458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5C8C50-8D44-1EBB-1562-4F569C8A47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64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A6DB-5A74-C583-E3FD-E96D979F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A04C741-209C-5850-1841-A212026EC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19348E-1EFB-BEA8-87EC-0A00F96A8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3DE21C-FE04-72FC-F877-15AB6A114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082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1B0E3-D9B6-2049-51AB-952D9070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0C2A21C-D6D1-3B9F-9FD3-7C7AEF733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D725FD-02FD-0350-1BF1-A03867854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0783EE-7283-5163-CBD9-1E16A6F94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036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C3C3B-535E-A5AC-E39D-F2CFC1E7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BCD3254-D069-9758-27EC-CFC97C69F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34874C7-D923-30FE-837D-6C3A38D73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271400-C08B-5BD6-DF44-67ED216E6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815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B81D-17C3-9700-EFBF-A27B12D8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DE85F29-7206-74D8-0F2A-F94AC9B45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7663E8-893F-9E45-56A8-155929EF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7366BA-DD88-9ED7-AC9F-7282E47CA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0156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13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87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254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0" y="6724651"/>
            <a:ext cx="12192000" cy="133349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70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D3F97-3AC4-43B4-8BBB-AD635F9A6FED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81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/>
          <p:cNvSpPr txBox="1"/>
          <p:nvPr/>
        </p:nvSpPr>
        <p:spPr>
          <a:xfrm>
            <a:off x="1347341" y="741076"/>
            <a:ext cx="9497313" cy="830960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4800" b="1" dirty="0">
                <a:ln w="19050">
                  <a:noFill/>
                </a:ln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TW" sz="4800" b="1" dirty="0">
                <a:ln w="19050">
                  <a:noFill/>
                </a:ln>
                <a:solidFill>
                  <a:srgbClr val="44AD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dvanced </a:t>
            </a:r>
            <a:r>
              <a:rPr lang="en-US" altLang="zh-TW" sz="4800" b="1" dirty="0">
                <a:ln w="19050">
                  <a:noFill/>
                </a:ln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TW" sz="4800" b="1" dirty="0">
                <a:ln w="19050">
                  <a:noFill/>
                </a:ln>
                <a:solidFill>
                  <a:srgbClr val="44AD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peration </a:t>
            </a:r>
            <a:r>
              <a:rPr lang="en-US" altLang="zh-TW" sz="4800" b="1" dirty="0">
                <a:ln w="19050">
                  <a:noFill/>
                </a:ln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TW" sz="4800" b="1" dirty="0">
                <a:ln w="19050">
                  <a:noFill/>
                </a:ln>
                <a:solidFill>
                  <a:srgbClr val="44AD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ystem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59B92E0-9576-D533-5BE2-81ECF2C4FB7B}"/>
              </a:ext>
            </a:extLst>
          </p:cNvPr>
          <p:cNvSpPr txBox="1"/>
          <p:nvPr/>
        </p:nvSpPr>
        <p:spPr>
          <a:xfrm>
            <a:off x="2327742" y="3539015"/>
            <a:ext cx="7536513" cy="3114727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National Sun Yat-sen University, Kaohsiung.</a:t>
            </a:r>
          </a:p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2000" dirty="0">
              <a:ln w="19050">
                <a:noFill/>
              </a:ln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lang="zh-TW" altLang="en-US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M153140005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Lecturer : </a:t>
            </a:r>
            <a:r>
              <a:rPr lang="zh-TW" altLang="en-US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王冠智</a:t>
            </a:r>
            <a:endParaRPr lang="en-US" altLang="zh-TW" sz="2000" dirty="0">
              <a:ln w="19050">
                <a:noFill/>
              </a:ln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Submission</a:t>
            </a:r>
            <a:r>
              <a:rPr lang="zh-TW" altLang="en-US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2026.10.22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Demonstration</a:t>
            </a:r>
            <a:r>
              <a:rPr lang="zh-TW" altLang="en-US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2026.11.03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7742" y="2091222"/>
            <a:ext cx="7536513" cy="646294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3600" b="1" dirty="0">
                <a:ln w="19050">
                  <a:noFill/>
                </a:ln>
                <a:solidFill>
                  <a:srgbClr val="3FABC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Homework Report</a:t>
            </a:r>
          </a:p>
        </p:txBody>
      </p:sp>
    </p:spTree>
    <p:extLst>
      <p:ext uri="{BB962C8B-B14F-4D97-AF65-F5344CB8AC3E}">
        <p14:creationId xmlns:p14="http://schemas.microsoft.com/office/powerpoint/2010/main" val="282789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17461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Outline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090333" y="616061"/>
            <a:ext cx="881635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930879"/>
            <a:ext cx="10912643" cy="5584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Directory</a:t>
            </a:r>
          </a:p>
          <a:p>
            <a:pPr marL="800100" lvl="2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Ø"/>
            </a:pPr>
            <a:r>
              <a:rPr lang="en-US" altLang="zh-TW" sz="2000" dirty="0">
                <a:ea typeface="微軟正黑體" panose="020B0604030504040204" pitchFamily="34" charset="-120"/>
              </a:rPr>
              <a:t>Homework</a:t>
            </a: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Requirement </a:t>
            </a:r>
          </a:p>
          <a:p>
            <a:pPr marL="800100" lvl="2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Ø"/>
            </a:pPr>
            <a:r>
              <a:rPr lang="en-US" altLang="zh-TW" sz="2000" dirty="0">
                <a:ea typeface="微軟正黑體" panose="020B0604030504040204" pitchFamily="34" charset="-120"/>
              </a:rPr>
              <a:t>Reference String Implement</a:t>
            </a:r>
          </a:p>
          <a:p>
            <a:pPr marL="1257300" lvl="3" indent="-3429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Random</a:t>
            </a:r>
          </a:p>
          <a:p>
            <a:pPr marL="1257300" lvl="3" indent="-3429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Locality</a:t>
            </a:r>
          </a:p>
          <a:p>
            <a:pPr marL="1257300" lvl="3" indent="-3429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Custom (Introduction)</a:t>
            </a:r>
          </a:p>
          <a:p>
            <a:pPr marL="800100" lvl="2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Ø"/>
            </a:pPr>
            <a:r>
              <a:rPr lang="en-US" altLang="zh-TW" sz="2000" dirty="0">
                <a:ea typeface="微軟正黑體" panose="020B0604030504040204" pitchFamily="34" charset="-120"/>
              </a:rPr>
              <a:t>Algorithm Implement</a:t>
            </a:r>
          </a:p>
          <a:p>
            <a:pPr marL="1257300" lvl="3" indent="-3429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FIFO</a:t>
            </a:r>
          </a:p>
          <a:p>
            <a:pPr marL="1257300" lvl="3" indent="-3429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MFU</a:t>
            </a:r>
          </a:p>
          <a:p>
            <a:pPr marL="1257300" lvl="3" indent="-3429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ESC</a:t>
            </a:r>
          </a:p>
          <a:p>
            <a:pPr marL="1257300" lvl="3" indent="-3429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Custom (Introduction)</a:t>
            </a:r>
          </a:p>
          <a:p>
            <a:pPr marL="800100" lvl="2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Ø"/>
            </a:pPr>
            <a:r>
              <a:rPr lang="en-US" altLang="zh-TW" sz="2000" dirty="0">
                <a:ea typeface="微軟正黑體" panose="020B0604030504040204" pitchFamily="34" charset="-12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48541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4732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Homework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817398" y="616061"/>
            <a:ext cx="8089292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3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8F8426-42C9-0B42-850C-86AF537CA413}"/>
              </a:ext>
            </a:extLst>
          </p:cNvPr>
          <p:cNvSpPr/>
          <p:nvPr/>
        </p:nvSpPr>
        <p:spPr>
          <a:xfrm>
            <a:off x="2586250" y="1456440"/>
            <a:ext cx="7019500" cy="3945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50000"/>
              </a:lnSpc>
              <a:buClr>
                <a:srgbClr val="35A0BD"/>
              </a:buClr>
            </a:pPr>
            <a:r>
              <a:rPr lang="en-US" altLang="zh-TW" sz="8800" dirty="0">
                <a:ea typeface="微軟正黑體" panose="020B0604030504040204" pitchFamily="34" charset="-120"/>
              </a:rPr>
              <a:t>Homework</a:t>
            </a:r>
          </a:p>
          <a:p>
            <a:pPr marL="0" lvl="1" algn="ctr">
              <a:lnSpc>
                <a:spcPct val="150000"/>
              </a:lnSpc>
              <a:buClr>
                <a:srgbClr val="35A0BD"/>
              </a:buClr>
            </a:pPr>
            <a:r>
              <a:rPr lang="en-US" altLang="zh-TW" sz="8800" dirty="0">
                <a:ea typeface="微軟正黑體" panose="020B0604030504040204" pitchFamily="34" charset="-120"/>
              </a:rPr>
              <a:t>Requirement</a:t>
            </a:r>
          </a:p>
        </p:txBody>
      </p:sp>
    </p:spTree>
    <p:extLst>
      <p:ext uri="{BB962C8B-B14F-4D97-AF65-F5344CB8AC3E}">
        <p14:creationId xmlns:p14="http://schemas.microsoft.com/office/powerpoint/2010/main" val="222249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76D5-F50A-4C76-ACEC-2ABC197B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11D99EC-E3A5-1619-D12C-B5A394572482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ACCEEA-9D29-D98C-9D27-4D64551B35F2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82B0C7-83B4-2807-CCBC-F3F8D4A900A2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92D88D-688A-24C4-F28E-8705673CCAE8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C1D77A-C060-F03B-42B1-9382B4EC3AB4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56692837-FD21-C98F-8A8B-65ED81508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5" y="354451"/>
            <a:ext cx="24732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Homework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01D17C24-8156-043B-E5AA-4701C9FBE53E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3817398" y="616061"/>
            <a:ext cx="8089292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0F8B2C5B-5D8C-DB49-7C30-23399A7403F1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CE7404D1-9889-12C2-3C3D-1F434CF63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4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A9E5D6-C07D-93C9-A3D7-40E9A5A72B91}"/>
              </a:ext>
            </a:extLst>
          </p:cNvPr>
          <p:cNvSpPr/>
          <p:nvPr/>
        </p:nvSpPr>
        <p:spPr>
          <a:xfrm>
            <a:off x="529196" y="1094379"/>
            <a:ext cx="10912643" cy="1891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zh-TW" altLang="en-US" sz="2000" dirty="0">
                <a:ea typeface="微軟正黑體" panose="020B0604030504040204" pitchFamily="34" charset="-120"/>
              </a:rPr>
              <a:t>作業要求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/>
            </a:pPr>
            <a:r>
              <a:rPr lang="zh-TW" altLang="en-US" sz="2000" dirty="0">
                <a:ea typeface="微軟正黑體" panose="020B0604030504040204" pitchFamily="34" charset="-120"/>
              </a:rPr>
              <a:t>實作</a:t>
            </a:r>
            <a:r>
              <a:rPr lang="en-US" altLang="zh-TW" sz="2000" dirty="0">
                <a:ea typeface="微軟正黑體" panose="020B0604030504040204" pitchFamily="34" charset="-120"/>
              </a:rPr>
              <a:t>FIFO</a:t>
            </a:r>
            <a:r>
              <a:rPr lang="zh-TW" altLang="en-US" sz="2000" dirty="0"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ea typeface="微軟正黑體" panose="020B0604030504040204" pitchFamily="34" charset="-120"/>
              </a:rPr>
              <a:t>MFU</a:t>
            </a:r>
            <a:r>
              <a:rPr lang="zh-TW" altLang="en-US" sz="2000" dirty="0"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ea typeface="微軟正黑體" panose="020B0604030504040204" pitchFamily="34" charset="-120"/>
              </a:rPr>
              <a:t>ESC</a:t>
            </a:r>
            <a:r>
              <a:rPr lang="zh-TW" altLang="en-US" sz="2000" dirty="0">
                <a:ea typeface="微軟正黑體" panose="020B0604030504040204" pitchFamily="34" charset="-120"/>
              </a:rPr>
              <a:t>演算法並比較其效能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/>
            </a:pPr>
            <a:r>
              <a:rPr lang="zh-TW" altLang="en-US" sz="2000" dirty="0">
                <a:ea typeface="微軟正黑體" panose="020B0604030504040204" pitchFamily="34" charset="-120"/>
              </a:rPr>
              <a:t>設計一套演算法並在其中一項</a:t>
            </a:r>
            <a:r>
              <a:rPr lang="en-US" altLang="zh-TW" sz="2000" dirty="0">
                <a:ea typeface="微軟正黑體" panose="020B0604030504040204" pitchFamily="34" charset="-120"/>
              </a:rPr>
              <a:t>Benchmark</a:t>
            </a:r>
            <a:r>
              <a:rPr lang="zh-TW" altLang="en-US" sz="2000" dirty="0">
                <a:ea typeface="微軟正黑體" panose="020B0604030504040204" pitchFamily="34" charset="-120"/>
              </a:rPr>
              <a:t>中勝出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/>
            </a:pPr>
            <a:r>
              <a:rPr lang="zh-TW" altLang="en-US" sz="2000" dirty="0">
                <a:ea typeface="微軟正黑體" panose="020B0604030504040204" pitchFamily="34" charset="-120"/>
              </a:rPr>
              <a:t>繪製圖表並討論演算法行為</a:t>
            </a:r>
            <a:endParaRPr lang="en-US" altLang="zh-TW" sz="2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336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4012163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5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2586250" y="2472103"/>
            <a:ext cx="7019500" cy="1913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50000"/>
              </a:lnSpc>
              <a:buClr>
                <a:srgbClr val="35A0BD"/>
              </a:buClr>
            </a:pPr>
            <a:r>
              <a:rPr lang="en-US" altLang="zh-TW" sz="8800" dirty="0">
                <a:ea typeface="微軟正黑體" panose="020B0604030504040204" pitchFamily="34" charset="-120"/>
              </a:rPr>
              <a:t>Implement</a:t>
            </a:r>
          </a:p>
        </p:txBody>
      </p:sp>
    </p:spTree>
    <p:extLst>
      <p:ext uri="{BB962C8B-B14F-4D97-AF65-F5344CB8AC3E}">
        <p14:creationId xmlns:p14="http://schemas.microsoft.com/office/powerpoint/2010/main" val="407015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6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A029A7B-9A76-8A83-89CB-BE44A459D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337" y="2354935"/>
            <a:ext cx="7173326" cy="273405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A41F304-2776-9B32-8D09-EAFD47051446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Random Reference</a:t>
            </a:r>
          </a:p>
        </p:txBody>
      </p:sp>
    </p:spTree>
    <p:extLst>
      <p:ext uri="{BB962C8B-B14F-4D97-AF65-F5344CB8AC3E}">
        <p14:creationId xmlns:p14="http://schemas.microsoft.com/office/powerpoint/2010/main" val="186100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E3A1D-2F14-7204-8AB1-DA7AFA29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6505D33-C167-B52F-E02C-1B4CFC704CF3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3D355D-8E0F-FDFC-8666-02A707196D4D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F57B82-F889-43FD-5387-5D3CB3FC2283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F4D3F4-64C7-99F9-244C-225030D72DAB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911D3D-66E4-1BAE-0F97-9A404707BFB1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4CB4A8BA-6B0D-3A26-2565-663FC3685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B67BE521-7B9F-BF6B-A557-39F44396CA14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DB17814-98C5-7B85-B984-385CF7BA5C4F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8F23DB3B-0F84-3515-FA84-E90042F9B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7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5B870C1-B5D1-B2F9-A92D-C2BB71917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317" y="902973"/>
            <a:ext cx="5357365" cy="572999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33BDD81-EA5C-2FED-3BA7-372B0AE5177B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Locality Reference</a:t>
            </a:r>
          </a:p>
        </p:txBody>
      </p:sp>
    </p:spTree>
    <p:extLst>
      <p:ext uri="{BB962C8B-B14F-4D97-AF65-F5344CB8AC3E}">
        <p14:creationId xmlns:p14="http://schemas.microsoft.com/office/powerpoint/2010/main" val="78852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8B0F-F403-F189-E873-CC83B1EE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3F3C1C1-4771-4B0C-26BF-E207FB34C840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60D494-35E1-F704-39EA-D4E335AFF559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A54EA5-E8CF-C7A5-A45C-44B5D665D8EC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3CB9FE-890B-D5E7-8165-23C20A60BB11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83A283-E499-77DE-DA1D-6BCE0EC6C44B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DE92C308-8EA8-1889-4B31-FAF68034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E257BA26-A056-6EF6-6C32-539E5B11092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6ABF8D8-302F-AD74-DF85-57BA04E94DA8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E2A249C5-8B6F-53A3-9614-01909F651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8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2EE514-F592-C6F2-09F7-483D6CF03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596" y="902973"/>
            <a:ext cx="4834808" cy="56887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0D93DDF-8DFB-95F8-F420-525F607BB1FE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Reference</a:t>
            </a:r>
          </a:p>
        </p:txBody>
      </p:sp>
    </p:spTree>
    <p:extLst>
      <p:ext uri="{BB962C8B-B14F-4D97-AF65-F5344CB8AC3E}">
        <p14:creationId xmlns:p14="http://schemas.microsoft.com/office/powerpoint/2010/main" val="138128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6E0F5-7530-9DCD-69D8-63B2CA51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F3943BE-3254-0C6D-593F-8BD890670A3B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5566ED-07D5-FD39-1E71-7CC78571349E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F7ED05-36B7-C94A-1D52-F531E187CE09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8D44F9-7FE7-A7EC-D86F-B3BF9DEC50A4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F82417-7D01-8687-B80B-44548E8394F0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8CAC8BC0-37B9-EC0E-E53C-CB7FE2EB2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5BDD0FFE-06E2-65F5-B456-B5FA3E4AB0A6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CAA6A952-22DD-F309-5430-D7E91F87542A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F94EA571-B154-868F-CC5A-8B93EE00B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9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71D24C-85CD-B7F6-81A5-661E242D43EA}"/>
              </a:ext>
            </a:extLst>
          </p:cNvPr>
          <p:cNvSpPr/>
          <p:nvPr/>
        </p:nvSpPr>
        <p:spPr>
          <a:xfrm>
            <a:off x="529196" y="1094379"/>
            <a:ext cx="10912643" cy="4659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Reference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/>
            </a:pPr>
            <a:r>
              <a:rPr lang="zh-TW" altLang="en-US" sz="2000" dirty="0">
                <a:ea typeface="微軟正黑體" panose="020B0604030504040204" pitchFamily="34" charset="-120"/>
              </a:rPr>
              <a:t>設計方式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總存取次數： </a:t>
            </a:r>
            <a:r>
              <a:rPr lang="en-US" altLang="zh-TW" sz="2000" dirty="0">
                <a:ea typeface="微軟正黑體" panose="020B0604030504040204" pitchFamily="34" charset="-120"/>
              </a:rPr>
              <a:t>150,000 </a:t>
            </a:r>
            <a:r>
              <a:rPr lang="zh-TW" altLang="en-US" sz="2000" dirty="0">
                <a:ea typeface="微軟正黑體" panose="020B0604030504040204" pitchFamily="34" charset="-120"/>
              </a:rPr>
              <a:t>次 </a:t>
            </a:r>
            <a:r>
              <a:rPr lang="en-US" altLang="zh-TW" sz="2000" dirty="0">
                <a:ea typeface="微軟正黑體" panose="020B0604030504040204" pitchFamily="34" charset="-120"/>
              </a:rPr>
              <a:t>Page References (</a:t>
            </a:r>
            <a:r>
              <a:rPr lang="zh-TW" altLang="en-US" sz="2000" dirty="0">
                <a:ea typeface="微軟正黑體" panose="020B0604030504040204" pitchFamily="34" charset="-120"/>
              </a:rPr>
              <a:t>作業要求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  <a:endParaRPr lang="zh-TW" altLang="en-US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Page </a:t>
            </a:r>
            <a:r>
              <a:rPr lang="zh-TW" altLang="en-US" sz="2000" dirty="0">
                <a:ea typeface="微軟正黑體" panose="020B0604030504040204" pitchFamily="34" charset="-120"/>
              </a:rPr>
              <a:t>範圍： </a:t>
            </a:r>
            <a:r>
              <a:rPr lang="en-US" altLang="zh-TW" sz="2000" dirty="0">
                <a:ea typeface="微軟正黑體" panose="020B0604030504040204" pitchFamily="34" charset="-120"/>
              </a:rPr>
              <a:t>1</a:t>
            </a:r>
            <a:r>
              <a:rPr lang="zh-TW" altLang="en-US" sz="2000" dirty="0">
                <a:ea typeface="微軟正黑體" panose="020B0604030504040204" pitchFamily="34" charset="-120"/>
              </a:rPr>
              <a:t>～</a:t>
            </a:r>
            <a:r>
              <a:rPr lang="en-US" altLang="zh-TW" sz="2000" dirty="0">
                <a:ea typeface="微軟正黑體" panose="020B0604030504040204" pitchFamily="34" charset="-120"/>
              </a:rPr>
              <a:t>1500 (</a:t>
            </a:r>
            <a:r>
              <a:rPr lang="zh-TW" altLang="en-US" sz="2000" dirty="0">
                <a:ea typeface="微軟正黑體" panose="020B0604030504040204" pitchFamily="34" charset="-120"/>
              </a:rPr>
              <a:t>作業要求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  <a:endParaRPr lang="zh-TW" altLang="en-US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80% Hotspot Access</a:t>
            </a:r>
            <a:r>
              <a:rPr lang="zh-TW" altLang="en-US" sz="2000" dirty="0">
                <a:ea typeface="微軟正黑體" panose="020B0604030504040204" pitchFamily="34" charset="-120"/>
              </a:rPr>
              <a:t>： 集中存取 </a:t>
            </a:r>
            <a:r>
              <a:rPr lang="en-US" altLang="zh-TW" sz="2000" dirty="0">
                <a:ea typeface="微軟正黑體" panose="020B0604030504040204" pitchFamily="34" charset="-120"/>
              </a:rPr>
              <a:t>Page 1</a:t>
            </a:r>
            <a:r>
              <a:rPr lang="zh-TW" altLang="en-US" sz="2000" dirty="0">
                <a:ea typeface="微軟正黑體" panose="020B0604030504040204" pitchFamily="34" charset="-120"/>
              </a:rPr>
              <a:t>～</a:t>
            </a:r>
            <a:r>
              <a:rPr lang="en-US" altLang="zh-TW" sz="2000" dirty="0">
                <a:ea typeface="微軟正黑體" panose="020B0604030504040204" pitchFamily="34" charset="-120"/>
              </a:rPr>
              <a:t>20</a:t>
            </a:r>
            <a:endParaRPr lang="zh-TW" altLang="en-US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20% Random Access</a:t>
            </a:r>
            <a:r>
              <a:rPr lang="zh-TW" altLang="en-US" sz="2000" dirty="0">
                <a:ea typeface="微軟正黑體" panose="020B0604030504040204" pitchFamily="34" charset="-120"/>
              </a:rPr>
              <a:t>： 隨機存取 </a:t>
            </a:r>
            <a:r>
              <a:rPr lang="en-US" altLang="zh-TW" sz="2000" dirty="0">
                <a:ea typeface="微軟正黑體" panose="020B0604030504040204" pitchFamily="34" charset="-120"/>
              </a:rPr>
              <a:t>Page 21</a:t>
            </a:r>
            <a:r>
              <a:rPr lang="zh-TW" altLang="en-US" sz="2000" dirty="0">
                <a:ea typeface="微軟正黑體" panose="020B0604030504040204" pitchFamily="34" charset="-120"/>
              </a:rPr>
              <a:t>～</a:t>
            </a:r>
            <a:r>
              <a:rPr lang="en-US" altLang="zh-TW" sz="2000" dirty="0">
                <a:ea typeface="微軟正黑體" panose="020B0604030504040204" pitchFamily="34" charset="-120"/>
              </a:rPr>
              <a:t>1500</a:t>
            </a:r>
            <a:endParaRPr lang="zh-TW" altLang="en-US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微軟正黑體" panose="020B0604030504040204" pitchFamily="34" charset="-120"/>
              </a:rPr>
              <a:t>Read / Write Ratio</a:t>
            </a:r>
            <a:r>
              <a:rPr lang="zh-TW" altLang="en-US" sz="2000" dirty="0">
                <a:ea typeface="微軟正黑體" panose="020B0604030504040204" pitchFamily="34" charset="-120"/>
              </a:rPr>
              <a:t>： 約 </a:t>
            </a:r>
            <a:r>
              <a:rPr lang="en-US" altLang="zh-TW" sz="2000" dirty="0">
                <a:ea typeface="微軟正黑體" panose="020B0604030504040204" pitchFamily="34" charset="-120"/>
              </a:rPr>
              <a:t>70% Read</a:t>
            </a:r>
            <a:r>
              <a:rPr lang="zh-TW" altLang="en-US" sz="2000" dirty="0"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ea typeface="微軟正黑體" panose="020B0604030504040204" pitchFamily="34" charset="-120"/>
              </a:rPr>
              <a:t>30% Write</a:t>
            </a: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ea typeface="微軟正黑體" panose="020B0604030504040204" pitchFamily="34" charset="-120"/>
              </a:rPr>
              <a:t>所有</a:t>
            </a:r>
            <a:r>
              <a:rPr lang="en-US" altLang="zh-TW" sz="2000" dirty="0">
                <a:ea typeface="微軟正黑體" panose="020B0604030504040204" pitchFamily="34" charset="-120"/>
              </a:rPr>
              <a:t>Reference</a:t>
            </a:r>
            <a:r>
              <a:rPr lang="zh-TW" altLang="en-US" sz="2000" dirty="0">
                <a:ea typeface="微軟正黑體" panose="020B0604030504040204" pitchFamily="34" charset="-120"/>
              </a:rPr>
              <a:t>統一規格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/>
            </a:pPr>
            <a:r>
              <a:rPr lang="zh-TW" altLang="en-US" sz="2000" dirty="0">
                <a:ea typeface="微軟正黑體" panose="020B0604030504040204" pitchFamily="34" charset="-120"/>
              </a:rPr>
              <a:t>設計目的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模擬少數熱門頁面頻繁使用，以及偶發非熱門頁面存取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評估演算法是否有效保留 </a:t>
            </a:r>
            <a:r>
              <a:rPr lang="en-US" altLang="zh-TW" sz="2000" dirty="0">
                <a:ea typeface="微軟正黑體" panose="020B0604030504040204" pitchFamily="34" charset="-120"/>
              </a:rPr>
              <a:t>Hot Pages</a:t>
            </a:r>
            <a:r>
              <a:rPr lang="zh-TW" altLang="en-US" sz="2000" dirty="0">
                <a:ea typeface="微軟正黑體" panose="020B0604030504040204" pitchFamily="34" charset="-120"/>
              </a:rPr>
              <a:t>，減少非必要 </a:t>
            </a:r>
            <a:r>
              <a:rPr lang="en-US" altLang="zh-TW" sz="2000" dirty="0">
                <a:ea typeface="微軟正黑體" panose="020B0604030504040204" pitchFamily="34" charset="-120"/>
              </a:rPr>
              <a:t>Page Fault</a:t>
            </a:r>
            <a:endParaRPr lang="zh-TW" altLang="en-US" sz="2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516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1001E-654F-3675-90AA-C739B1C0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35815BB-85C1-3E94-5A17-7E80A74F332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FB58E6-5923-0092-3DBC-1729114DF242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77C086-7BFB-77D1-3B0A-C105DAE7F11E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138B72-7601-24DC-B30A-EED375EF9402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2E3412-C665-00DE-960C-AA0F826DFDA6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960E4C1F-28A5-42FE-9286-62DD577E5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AF935A12-B482-6019-CA4A-9F6756C399E7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CF447A0-1A0E-9987-47E2-C560799B9CAA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CEEA656A-B678-8375-CCAF-B71713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10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E7658F-48EA-AE1C-53B5-9FB113C914BA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FIFO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46AD325-A211-3098-2E92-3FA6BDF3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460" y="906810"/>
            <a:ext cx="4237079" cy="566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9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C31F-A41C-4A00-5682-8A99FD18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1F8ED72-FDC1-33CC-3B1A-3C7AAC3140AE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FDC1EE-6803-5781-870E-783809C756EB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0D950E-DBB2-F529-364C-A96A0109ACD3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9A9563-3632-FD51-79A3-97D9C154DF66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35CDF6-AFF0-A571-D61D-3FBA1908F36C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464A18AB-01BB-4EAF-D478-8D5FDDEC5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9B78FC4C-5666-6D96-40E8-6CE8CDE0C3E5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F388EAD-75D0-ADAB-C5B9-C05A144D0855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99BE58C8-E7CC-EB61-0576-D100309C5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11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9DAB1F-6CAE-F11D-114C-B69C36CED059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MFU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1D379E6-6C03-1295-CCB5-F0184126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41" y="1642727"/>
            <a:ext cx="5521311" cy="36000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0ACDE14-F976-E03F-25FF-56913F522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049" y="1642727"/>
            <a:ext cx="559708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1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31D1-BE47-37DA-8A96-B89A0A1CC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385609-3D67-85FC-0CBA-2FCC73A7F7C4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C10BD9-B5B6-6914-F73C-48B13BA01AD8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72645B-C195-28D3-B8E0-89B051EDA7E1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3BED43-28E0-2566-6CCD-3F208EFC081D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FE68A9-1997-31E3-D62E-9C437F33558B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D878E28A-8449-A309-4D97-2EE44E6CC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4DC5272B-9DD5-0248-8585-703CC513A66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400604B-A225-14DF-3768-5C87B408C510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98AB9461-D87F-591C-BBFA-FFBA8A1E2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12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6FD0AD-B96B-06D2-A46F-4D75F7A4B170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ESC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984440D-AD54-0019-7BA0-7646A87F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56" y="1600671"/>
            <a:ext cx="4663370" cy="504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CCA8041C-5CAB-6062-7021-2F94B105D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605" y="1600671"/>
            <a:ext cx="4127144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3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592F-20CC-D8F3-F9FD-9A709D83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DC9E5D-2D39-926E-F049-17AED2E4B08E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D78F38-F1CF-EC72-9395-D1B2B638EBFB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5CA90F-5153-5B57-FE60-71CC2A5EF27F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51CBC4-F89F-459E-E8AC-F934D766712F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EADFCE-67C6-52FB-3F51-948E6DABB20A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970F50DE-B2AF-FE0C-C7FC-208035C1F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DAE604E9-DF25-0DB3-5A9B-49D2ADCE2959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C8FADC7E-1E87-78EC-2A20-BBD189CCADA3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533A0D3B-D539-E473-2F3B-11959F7F8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13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3592C-9A81-8BE4-D3BD-9632D5ED6243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C2E0CFF-5592-559A-70D2-CC3FBDDD3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492" y="1600671"/>
            <a:ext cx="3962747" cy="5040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08267BFB-CD2E-9F86-C5A4-0167BD2B7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939" y="1600671"/>
            <a:ext cx="5719305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3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93B87-5275-EC95-0D46-0197B3BE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B43C45-0AB6-24DB-7349-28DF7D8D210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DBF224-4E58-6266-0D27-598CB3284799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9AC66F-613D-980A-1E85-087130276CFA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B056D2-59BB-82C6-8A7D-566FE58E6541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8F7496-CDDC-6112-3BC4-D54357D6227D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90324B59-3D81-1054-6371-64B97AB63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423572EF-3E7A-608C-7D6F-E7A3B34296FB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074F67E-392B-8787-C730-260B25D603A2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9AD47E51-3E77-1947-3EF9-FF1CECA98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14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822A54-CAD6-DFF7-8423-D0A2AA0E43BF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860C06-7BCE-1CA3-66BC-1D88127CA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3" y="1734760"/>
            <a:ext cx="5155016" cy="361847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0DEA2B5-DF4B-DF58-A055-E71C014E3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073" y="1735235"/>
            <a:ext cx="6508992" cy="36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3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B96D-B5A7-46D9-FCB4-F90EE8C85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9912100-668E-E336-3EEB-D0C4277AAFC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2E6662-EBA1-6B90-14FF-4FF2058CDB70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3E3C3E-FEFF-4778-6D13-81E8B02E4B83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41A9FA-CE1E-6EA6-D3A2-2D113E4D7B9A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C63166-E567-F14F-AD18-44193F0F7AD4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63D77819-F9B2-2395-6703-E9013791C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A6B73954-924D-968C-52D9-813FA87B7CC1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FEBD9E1-CC26-28BB-1BCC-F766FEBC8249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5C2A3CA8-216C-6232-AC3E-F1E501A3C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15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0E981F-7A68-1385-55DC-2EC946DD95FD}"/>
              </a:ext>
            </a:extLst>
          </p:cNvPr>
          <p:cNvSpPr/>
          <p:nvPr/>
        </p:nvSpPr>
        <p:spPr>
          <a:xfrm>
            <a:off x="529196" y="1094379"/>
            <a:ext cx="10912643" cy="3736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/>
            </a:pPr>
            <a:r>
              <a:rPr lang="zh-TW" altLang="en-US" sz="2000" dirty="0">
                <a:ea typeface="微軟正黑體" panose="020B0604030504040204" pitchFamily="34" charset="-120"/>
              </a:rPr>
              <a:t>設計動機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針對</a:t>
            </a:r>
            <a:r>
              <a:rPr lang="en-US" altLang="zh-TW" sz="2000" dirty="0">
                <a:ea typeface="微軟正黑體" panose="020B0604030504040204" pitchFamily="34" charset="-120"/>
              </a:rPr>
              <a:t>Hot</a:t>
            </a: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ea typeface="微軟正黑體" panose="020B0604030504040204" pitchFamily="34" charset="-120"/>
              </a:rPr>
              <a:t>模式，以</a:t>
            </a:r>
            <a:r>
              <a:rPr lang="en-US" altLang="zh-TW" sz="2000" dirty="0">
                <a:ea typeface="微軟正黑體" panose="020B0604030504040204" pitchFamily="34" charset="-120"/>
              </a:rPr>
              <a:t>LFU(</a:t>
            </a:r>
            <a:r>
              <a:rPr lang="zh-TW" altLang="en-US" sz="2000" dirty="0">
                <a:ea typeface="微軟正黑體" panose="020B0604030504040204" pitchFamily="34" charset="-120"/>
              </a:rPr>
              <a:t>保留常用</a:t>
            </a:r>
            <a:r>
              <a:rPr lang="en-US" altLang="zh-TW" sz="2000" dirty="0">
                <a:ea typeface="微軟正黑體" panose="020B0604030504040204" pitchFamily="34" charset="-120"/>
              </a:rPr>
              <a:t>Page)</a:t>
            </a:r>
            <a:r>
              <a:rPr lang="zh-TW" altLang="en-US" sz="2000" dirty="0">
                <a:ea typeface="微軟正黑體" panose="020B0604030504040204" pitchFamily="34" charset="-120"/>
              </a:rPr>
              <a:t>為基礎來設計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欲減少</a:t>
            </a:r>
            <a:r>
              <a:rPr lang="en-US" altLang="zh-TW" sz="2000" dirty="0">
                <a:ea typeface="微軟正黑體" panose="020B0604030504040204" pitchFamily="34" charset="-120"/>
              </a:rPr>
              <a:t>Disk Write</a:t>
            </a:r>
            <a:r>
              <a:rPr lang="zh-TW" altLang="en-US" sz="2000" dirty="0">
                <a:ea typeface="微軟正黑體" panose="020B0604030504040204" pitchFamily="34" charset="-120"/>
              </a:rPr>
              <a:t>次數，故套用</a:t>
            </a:r>
            <a:r>
              <a:rPr lang="en-US" altLang="zh-TW" sz="2000" dirty="0">
                <a:ea typeface="微軟正黑體" panose="020B0604030504040204" pitchFamily="34" charset="-120"/>
              </a:rPr>
              <a:t>Dirty Penalty</a:t>
            </a:r>
            <a:r>
              <a:rPr lang="zh-TW" altLang="en-US" sz="2000" dirty="0">
                <a:ea typeface="微軟正黑體" panose="020B0604030504040204" pitchFamily="34" charset="-120"/>
              </a:rPr>
              <a:t>來賦予演算法對</a:t>
            </a:r>
            <a:r>
              <a:rPr lang="en-US" altLang="zh-TW" sz="2000" dirty="0">
                <a:ea typeface="微軟正黑體" panose="020B0604030504040204" pitchFamily="34" charset="-120"/>
              </a:rPr>
              <a:t>Disk</a:t>
            </a: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Write</a:t>
            </a:r>
            <a:r>
              <a:rPr lang="zh-TW" altLang="en-US" sz="2000" dirty="0">
                <a:ea typeface="微軟正黑體" panose="020B0604030504040204" pitchFamily="34" charset="-120"/>
              </a:rPr>
              <a:t>的敏感度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/>
            </a:pPr>
            <a:r>
              <a:rPr lang="zh-TW" altLang="en-US" sz="2000" dirty="0">
                <a:ea typeface="微軟正黑體" panose="020B0604030504040204" pitchFamily="34" charset="-120"/>
              </a:rPr>
              <a:t>設計目標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保留常用</a:t>
            </a:r>
            <a:r>
              <a:rPr lang="en-US" altLang="zh-TW" sz="2000" dirty="0">
                <a:ea typeface="微軟正黑體" panose="020B0604030504040204" pitchFamily="34" charset="-120"/>
              </a:rPr>
              <a:t>Pages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避免</a:t>
            </a:r>
            <a:r>
              <a:rPr lang="en-US" altLang="zh-TW" sz="2000" dirty="0">
                <a:ea typeface="微軟正黑體" panose="020B0604030504040204" pitchFamily="34" charset="-120"/>
              </a:rPr>
              <a:t>Dirty Bit</a:t>
            </a:r>
            <a:r>
              <a:rPr lang="zh-TW" altLang="en-US" sz="2000" dirty="0">
                <a:ea typeface="微軟正黑體" panose="020B0604030504040204" pitchFamily="34" charset="-120"/>
              </a:rPr>
              <a:t>頻繁寫入記憶體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微軟正黑體" panose="020B0604030504040204" pitchFamily="34" charset="-120"/>
              </a:rPr>
              <a:t>計算淘汰成本</a:t>
            </a:r>
            <a:r>
              <a:rPr lang="en-US" altLang="zh-TW" sz="2000" dirty="0">
                <a:ea typeface="微軟正黑體" panose="020B0604030504040204" pitchFamily="34" charset="-120"/>
              </a:rPr>
              <a:t>(Cost)</a:t>
            </a:r>
            <a:r>
              <a:rPr lang="zh-TW" altLang="en-US" sz="2000" dirty="0">
                <a:ea typeface="微軟正黑體" panose="020B0604030504040204" pitchFamily="34" charset="-120"/>
              </a:rPr>
              <a:t>以決定淘汰目標</a:t>
            </a:r>
            <a:endParaRPr lang="en-US" altLang="zh-TW" sz="2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252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1228-8AE2-3379-E556-256C0AA4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5026553-0123-C764-8E67-2E21BF0D22B2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D27417-AE36-5E2A-0338-7DA77B1811C9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1399FE-7982-E281-81F4-AA21EAF2D265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1A4E62-D29E-CC1F-55BD-8BE8F93F53BB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6D4322-D76B-FF37-0520-B287A7886AD2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655F2F8E-717D-19D6-009F-CC65684C4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42B35FC1-DF7E-DC8E-9534-065FDBD26E66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64D51F3-F700-E5F2-60A6-932A10E49160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5E648030-4D5C-B6A5-0B70-50EF86811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16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8AEA40-E845-8B76-C1C8-07E8E60B2F6E}"/>
              </a:ext>
            </a:extLst>
          </p:cNvPr>
          <p:cNvSpPr/>
          <p:nvPr/>
        </p:nvSpPr>
        <p:spPr>
          <a:xfrm>
            <a:off x="529196" y="1094379"/>
            <a:ext cx="10912643" cy="3274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 startAt="3"/>
            </a:pPr>
            <a:r>
              <a:rPr lang="zh-TW" altLang="en-US" sz="2000" dirty="0">
                <a:ea typeface="微軟正黑體" panose="020B0604030504040204" pitchFamily="34" charset="-120"/>
              </a:rPr>
              <a:t>演算法運作流程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用</a:t>
            </a:r>
            <a:r>
              <a:rPr lang="en-US" altLang="zh-TW" sz="2000" dirty="0">
                <a:ea typeface="微軟正黑體" panose="020B0604030504040204" pitchFamily="34" charset="-120"/>
              </a:rPr>
              <a:t>Sliding Window</a:t>
            </a:r>
            <a:r>
              <a:rPr lang="zh-TW" altLang="en-US" sz="2000" dirty="0">
                <a:ea typeface="微軟正黑體" panose="020B0604030504040204" pitchFamily="34" charset="-120"/>
              </a:rPr>
              <a:t>紀錄近期</a:t>
            </a:r>
            <a:r>
              <a:rPr lang="en-US" altLang="zh-TW" sz="2000" dirty="0"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ea typeface="微軟正黑體" panose="020B0604030504040204" pitchFamily="34" charset="-120"/>
              </a:rPr>
              <a:t>出現頻率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考慮近期出現頻率跟近期使用率</a:t>
            </a:r>
            <a:r>
              <a:rPr lang="en-US" altLang="zh-TW" sz="2000" dirty="0"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ea typeface="微軟正黑體" panose="020B0604030504040204" pitchFamily="34" charset="-120"/>
              </a:rPr>
              <a:t>賦予權重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ea typeface="微軟正黑體" panose="020B0604030504040204" pitchFamily="34" charset="-120"/>
              </a:rPr>
              <a:t>，評估保留價值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篩選保留價值低的</a:t>
            </a:r>
            <a:r>
              <a:rPr lang="en-US" altLang="zh-TW" sz="2000" dirty="0">
                <a:ea typeface="微軟正黑體" panose="020B0604030504040204" pitchFamily="34" charset="-120"/>
              </a:rPr>
              <a:t>Pages</a:t>
            </a:r>
            <a:r>
              <a:rPr lang="zh-TW" altLang="en-US" sz="2000" dirty="0">
                <a:ea typeface="微軟正黑體" panose="020B0604030504040204" pitchFamily="34" charset="-120"/>
              </a:rPr>
              <a:t>作為候選人</a:t>
            </a:r>
            <a:r>
              <a:rPr lang="en-US" altLang="zh-TW" sz="2000" dirty="0">
                <a:ea typeface="微軟正黑體" panose="020B0604030504040204" pitchFamily="34" charset="-120"/>
              </a:rPr>
              <a:t>(Candidate)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依</a:t>
            </a:r>
            <a:r>
              <a:rPr lang="en-US" altLang="zh-TW" sz="2000" dirty="0">
                <a:ea typeface="微軟正黑體" panose="020B0604030504040204" pitchFamily="34" charset="-120"/>
              </a:rPr>
              <a:t>Dirty Eviction</a:t>
            </a:r>
            <a:r>
              <a:rPr lang="zh-TW" altLang="en-US" sz="2000" dirty="0">
                <a:ea typeface="微軟正黑體" panose="020B0604030504040204" pitchFamily="34" charset="-120"/>
              </a:rPr>
              <a:t>比例調整懲罰係數</a:t>
            </a:r>
            <a:r>
              <a:rPr lang="en-US" altLang="zh-TW" sz="2000" dirty="0">
                <a:ea typeface="微軟正黑體" panose="020B0604030504040204" pitchFamily="34" charset="-120"/>
              </a:rPr>
              <a:t>(Dirty Penalty)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從</a:t>
            </a:r>
            <a:r>
              <a:rPr lang="en-US" altLang="zh-TW" sz="2000" dirty="0">
                <a:ea typeface="微軟正黑體" panose="020B0604030504040204" pitchFamily="34" charset="-120"/>
              </a:rPr>
              <a:t>Candidate</a:t>
            </a:r>
            <a:r>
              <a:rPr lang="zh-TW" altLang="en-US" sz="2000" dirty="0">
                <a:ea typeface="微軟正黑體" panose="020B0604030504040204" pitchFamily="34" charset="-120"/>
              </a:rPr>
              <a:t>中選取</a:t>
            </a:r>
            <a:r>
              <a:rPr lang="en-US" altLang="zh-TW" sz="2000" dirty="0">
                <a:ea typeface="微軟正黑體" panose="020B0604030504040204" pitchFamily="34" charset="-120"/>
              </a:rPr>
              <a:t>Cost</a:t>
            </a:r>
            <a:r>
              <a:rPr lang="zh-TW" altLang="en-US" sz="2000" dirty="0">
                <a:ea typeface="微軟正黑體" panose="020B0604030504040204" pitchFamily="34" charset="-120"/>
              </a:rPr>
              <a:t>最低的進行淘汰</a:t>
            </a:r>
            <a:endParaRPr lang="en-US" altLang="zh-TW" sz="2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263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D446-E1BB-0D4F-020C-70DFC4C0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17DE07A-535C-8D5E-F82F-21AA63EB9160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B7F8E5-F021-78D3-4690-BF74AF830C55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021CBA-7F56-1545-E1D9-B7691FE57552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3963FF-EC5B-59A7-77A6-4A5B2978514C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7492F8-4688-8075-B0EC-FAAAE1F3BA9B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C9719153-3DA8-FE44-6180-D83DBBB3D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FB2BCE7A-819B-8F53-6C79-AA042A60F1E8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5686115-B495-71E8-CFC1-87539851F183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9CBC6BE9-B089-E66D-6206-6388623B1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17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EDCB3A-240A-1346-AEA0-55AB7DE088EE}"/>
              </a:ext>
            </a:extLst>
          </p:cNvPr>
          <p:cNvSpPr/>
          <p:nvPr/>
        </p:nvSpPr>
        <p:spPr>
          <a:xfrm>
            <a:off x="529196" y="1094379"/>
            <a:ext cx="10912643" cy="5121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 startAt="3"/>
            </a:pPr>
            <a:r>
              <a:rPr lang="zh-TW" altLang="en-US" sz="2000" dirty="0">
                <a:ea typeface="微軟正黑體" panose="020B0604030504040204" pitchFamily="34" charset="-120"/>
              </a:rPr>
              <a:t>演算法運作流程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用</a:t>
            </a:r>
            <a:r>
              <a:rPr lang="en-US" altLang="zh-TW" sz="2000" dirty="0">
                <a:ea typeface="微軟正黑體" panose="020B0604030504040204" pitchFamily="34" charset="-120"/>
              </a:rPr>
              <a:t>Sliding Window</a:t>
            </a:r>
            <a:r>
              <a:rPr lang="zh-TW" altLang="en-US" sz="2000" dirty="0">
                <a:ea typeface="微軟正黑體" panose="020B0604030504040204" pitchFamily="34" charset="-120"/>
              </a:rPr>
              <a:t>紀錄近期</a:t>
            </a:r>
            <a:r>
              <a:rPr lang="en-US" altLang="zh-TW" sz="2000" dirty="0"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ea typeface="微軟正黑體" panose="020B0604030504040204" pitchFamily="34" charset="-120"/>
              </a:rPr>
              <a:t>出現頻率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en-US" altLang="zh-TW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W</a:t>
            </a:r>
            <a:r>
              <a:rPr lang="en-US" altLang="zh-TW" sz="2000" dirty="0">
                <a:ea typeface="微軟正黑體" panose="020B0604030504040204" pitchFamily="34" charset="-120"/>
              </a:rPr>
              <a:t> (Window Size)</a:t>
            </a:r>
            <a:r>
              <a:rPr lang="en-US" altLang="zh-TW" sz="2000" b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= 2 * 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num_frame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(Frame</a:t>
            </a:r>
            <a:r>
              <a:rPr lang="zh-TW" altLang="en-US" sz="2000" dirty="0">
                <a:ea typeface="微軟正黑體" panose="020B0604030504040204" pitchFamily="34" charset="-120"/>
              </a:rPr>
              <a:t>數量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en-US" altLang="zh-TW" sz="2000" dirty="0">
                <a:ea typeface="微軟正黑體" panose="020B0604030504040204" pitchFamily="34" charset="-120"/>
              </a:rPr>
              <a:t>Deque</a:t>
            </a:r>
            <a:r>
              <a:rPr lang="zh-TW" altLang="en-US" sz="2000" dirty="0">
                <a:ea typeface="微軟正黑體" panose="020B0604030504040204" pitchFamily="34" charset="-120"/>
              </a:rPr>
              <a:t>存取近</a:t>
            </a:r>
            <a:r>
              <a:rPr lang="en-US" altLang="zh-TW" sz="2000" dirty="0">
                <a:ea typeface="微軟正黑體" panose="020B0604030504040204" pitchFamily="34" charset="-120"/>
              </a:rPr>
              <a:t>W</a:t>
            </a:r>
            <a:r>
              <a:rPr lang="zh-TW" altLang="en-US" sz="2000" dirty="0">
                <a:ea typeface="微軟正黑體" panose="020B0604030504040204" pitchFamily="34" charset="-120"/>
              </a:rPr>
              <a:t>次的</a:t>
            </a:r>
            <a:r>
              <a:rPr lang="en-US" altLang="zh-TW" sz="2000" dirty="0">
                <a:ea typeface="微軟正黑體" panose="020B0604030504040204" pitchFamily="34" charset="-120"/>
              </a:rPr>
              <a:t>Page Reference (</a:t>
            </a:r>
            <a:r>
              <a:rPr lang="zh-TW" altLang="en-US" sz="2000" dirty="0">
                <a:ea typeface="微軟正黑體" panose="020B0604030504040204" pitchFamily="34" charset="-120"/>
              </a:rPr>
              <a:t>僅存取部分歷史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zh-TW" altLang="en-US" sz="2000" dirty="0">
                <a:ea typeface="微軟正黑體" panose="020B0604030504040204" pitchFamily="34" charset="-120"/>
              </a:rPr>
              <a:t>統計</a:t>
            </a:r>
            <a:r>
              <a:rPr lang="en-US" altLang="zh-TW" sz="2000" dirty="0">
                <a:ea typeface="微軟正黑體" panose="020B0604030504040204" pitchFamily="34" charset="-120"/>
              </a:rPr>
              <a:t>Window</a:t>
            </a:r>
            <a:r>
              <a:rPr lang="zh-TW" altLang="en-US" sz="2000" dirty="0">
                <a:ea typeface="微軟正黑體" panose="020B0604030504040204" pitchFamily="34" charset="-120"/>
              </a:rPr>
              <a:t>中，各</a:t>
            </a:r>
            <a:r>
              <a:rPr lang="en-US" altLang="zh-TW" sz="2000" dirty="0"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ea typeface="微軟正黑體" panose="020B0604030504040204" pitchFamily="34" charset="-120"/>
              </a:rPr>
              <a:t>出現的次數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en-US" altLang="zh-TW" sz="2000" dirty="0">
                <a:ea typeface="微軟正黑體" panose="020B0604030504040204" pitchFamily="34" charset="-120"/>
              </a:rPr>
              <a:t>Window</a:t>
            </a:r>
            <a:r>
              <a:rPr lang="zh-TW" altLang="en-US" sz="2000" dirty="0">
                <a:ea typeface="微軟正黑體" panose="020B0604030504040204" pitchFamily="34" charset="-120"/>
              </a:rPr>
              <a:t>滿了就刪掉最舊的紀錄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考慮近期出現頻率跟近期使用率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賦予權重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，評估保留價值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篩選保留價值低的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Pages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作為候選人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(Candidate)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依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Dirty Eviction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比例調整懲罰係數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(Dirty Penalty)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從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Candidate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中選取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Cost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最低的進行淘汰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754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90B0-6FEA-B67E-C29E-25987BFD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2AE8ABD-2F55-B084-6650-8AA7B34621FA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EF984-2DCE-027F-145E-EDF8D40A28BC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0F1F7D-B45E-E4E7-97FB-DB576D5DB99A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9C046A-7FD5-0EE3-F305-235DD592B8CA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A8E5D0-58FD-944E-AC64-0F7A0A15AF31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9F062357-7B02-D464-7926-109C39078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3299CC46-D9C4-A9F2-0C9A-24D4A604BC41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A5088FB-4C23-6677-FBB8-8330AA06CB2B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1E207E97-8948-8C25-4FD3-97131DFA0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18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946D91-A485-1A2F-3DA7-9612DBE86428}"/>
              </a:ext>
            </a:extLst>
          </p:cNvPr>
          <p:cNvSpPr/>
          <p:nvPr/>
        </p:nvSpPr>
        <p:spPr>
          <a:xfrm>
            <a:off x="529196" y="1094379"/>
            <a:ext cx="10912643" cy="4659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 startAt="3"/>
            </a:pPr>
            <a:r>
              <a:rPr lang="zh-TW" altLang="en-US" sz="2000" dirty="0">
                <a:ea typeface="微軟正黑體" panose="020B0604030504040204" pitchFamily="34" charset="-120"/>
              </a:rPr>
              <a:t>演算法運作流程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用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Sliding Window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紀錄近期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出現頻率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考慮近期出現頻率跟近期使用率</a:t>
            </a:r>
            <a:r>
              <a:rPr lang="en-US" altLang="zh-TW" sz="2000" dirty="0"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ea typeface="微軟正黑體" panose="020B0604030504040204" pitchFamily="34" charset="-120"/>
              </a:rPr>
              <a:t>賦予權重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ea typeface="微軟正黑體" panose="020B0604030504040204" pitchFamily="34" charset="-120"/>
              </a:rPr>
              <a:t>，評估保留價值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en-US" altLang="zh-TW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F(p) = Frequency(p) / 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MaxFrequency</a:t>
            </a:r>
            <a:endParaRPr lang="en-US" altLang="zh-TW" sz="2000" b="1" i="1" dirty="0">
              <a:ea typeface="微軟正黑體" panose="020B0604030504040204" pitchFamily="34" charset="-120"/>
            </a:endParaRP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en-US" altLang="zh-TW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R(p) = (1 + Age(p)/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num_frame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)</a:t>
            </a:r>
            <a:r>
              <a:rPr lang="en-US" altLang="zh-TW" sz="2000" b="1" i="1" baseline="30000" dirty="0">
                <a:ea typeface="微軟正黑體" panose="020B0604030504040204" pitchFamily="34" charset="-120"/>
              </a:rPr>
              <a:t>-1</a:t>
            </a:r>
            <a:r>
              <a:rPr lang="en-US" altLang="zh-TW" sz="2000" dirty="0">
                <a:ea typeface="微軟正黑體" panose="020B0604030504040204" pitchFamily="34" charset="-120"/>
              </a:rPr>
              <a:t> 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en-US" altLang="zh-TW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ReuseScore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(p) = 0.65F(p) + 0.35R(p) </a:t>
            </a:r>
            <a:r>
              <a:rPr lang="en-US" altLang="zh-TW" sz="2000" dirty="0"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ea typeface="微軟正黑體" panose="020B0604030504040204" pitchFamily="34" charset="-120"/>
              </a:rPr>
              <a:t>分數越高則越有保留價值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篩選保留價值低的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Pages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作為候選人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(Candidate)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依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Dirty Eviction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比例調整懲罰係數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(Dirty Penalty)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從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Candidate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中選取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Cost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最低的進行淘汰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312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DC70-B4B6-C3BE-C725-8AA4ADB5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EA946CD-53A4-49A8-B3EF-744CB9AD9711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19AB37-AF68-1992-34B9-3325972EE5DF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6A0E31-6700-58C9-DA30-457BE5C5A5F6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B3B918-BC3F-9B33-2DFC-8DFDF90376E6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83ECA0-66CE-BD28-7F68-5E2C2FEA9514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932681EC-3D78-114C-3DAE-64E753806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E35707F0-B3EF-7077-82D1-8435EBF2C92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47DBC59D-0D92-DA7B-EC92-DAC91BA0FDE0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406E4FCA-491F-168D-C9DD-B0649D517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19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70367F-F61E-650E-00C6-7335BE3FDF84}"/>
              </a:ext>
            </a:extLst>
          </p:cNvPr>
          <p:cNvSpPr/>
          <p:nvPr/>
        </p:nvSpPr>
        <p:spPr>
          <a:xfrm>
            <a:off x="529196" y="1094379"/>
            <a:ext cx="10912643" cy="4197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 startAt="3"/>
            </a:pPr>
            <a:r>
              <a:rPr lang="zh-TW" altLang="en-US" sz="2000" dirty="0">
                <a:ea typeface="微軟正黑體" panose="020B0604030504040204" pitchFamily="34" charset="-120"/>
              </a:rPr>
              <a:t>演算法運作流程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用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Sliding Window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紀錄近期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出現頻率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考慮近期出現頻率跟近期使用率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賦予權重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，評估保留價值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篩選保留價值低的</a:t>
            </a:r>
            <a:r>
              <a:rPr lang="en-US" altLang="zh-TW" sz="2000" dirty="0">
                <a:ea typeface="微軟正黑體" panose="020B0604030504040204" pitchFamily="34" charset="-120"/>
              </a:rPr>
              <a:t>Pages</a:t>
            </a:r>
            <a:r>
              <a:rPr lang="zh-TW" altLang="en-US" sz="2000" dirty="0">
                <a:ea typeface="微軟正黑體" panose="020B0604030504040204" pitchFamily="34" charset="-120"/>
              </a:rPr>
              <a:t>作為候選人</a:t>
            </a:r>
            <a:r>
              <a:rPr lang="en-US" altLang="zh-TW" sz="2000" dirty="0">
                <a:ea typeface="微軟正黑體" panose="020B0604030504040204" pitchFamily="34" charset="-120"/>
              </a:rPr>
              <a:t>(Candidate)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zh-TW" altLang="en-US" sz="2000" dirty="0">
                <a:ea typeface="微軟正黑體" panose="020B0604030504040204" pitchFamily="34" charset="-120"/>
              </a:rPr>
              <a:t>找 </a:t>
            </a:r>
            <a:r>
              <a:rPr lang="en-US" altLang="zh-TW" sz="2000" dirty="0" err="1">
                <a:ea typeface="微軟正黑體" panose="020B0604030504040204" pitchFamily="34" charset="-120"/>
              </a:rPr>
              <a:t>ReuseScore</a:t>
            </a:r>
            <a:r>
              <a:rPr lang="en-US" altLang="zh-TW" sz="2000" dirty="0">
                <a:ea typeface="微軟正黑體" panose="020B0604030504040204" pitchFamily="34" charset="-120"/>
              </a:rPr>
              <a:t>(p) </a:t>
            </a:r>
            <a:r>
              <a:rPr lang="zh-TW" altLang="en-US" sz="2000" dirty="0">
                <a:ea typeface="微軟正黑體" panose="020B0604030504040204" pitchFamily="34" charset="-120"/>
              </a:rPr>
              <a:t>中最低的 </a:t>
            </a:r>
            <a:r>
              <a:rPr lang="en-US" altLang="zh-TW" sz="2000" dirty="0">
                <a:ea typeface="微軟正黑體" panose="020B0604030504040204" pitchFamily="34" charset="-120"/>
              </a:rPr>
              <a:t>(</a:t>
            </a:r>
            <a:r>
              <a:rPr lang="en-US" altLang="zh-TW" sz="2000" dirty="0" err="1">
                <a:ea typeface="微軟正黑體" panose="020B0604030504040204" pitchFamily="34" charset="-120"/>
              </a:rPr>
              <a:t>S</a:t>
            </a:r>
            <a:r>
              <a:rPr lang="en-US" altLang="zh-TW" sz="2000" baseline="-25000" dirty="0" err="1">
                <a:ea typeface="微軟正黑體" panose="020B0604030504040204" pitchFamily="34" charset="-120"/>
              </a:rPr>
              <a:t>min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Threshold = 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S</a:t>
            </a:r>
            <a:r>
              <a:rPr lang="en-US" altLang="zh-TW" sz="2000" b="1" i="1" baseline="-25000" dirty="0" err="1">
                <a:ea typeface="微軟正黑體" panose="020B0604030504040204" pitchFamily="34" charset="-120"/>
              </a:rPr>
              <a:t>min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+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0.25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ea typeface="微軟正黑體" panose="020B0604030504040204" pitchFamily="34" charset="-120"/>
              </a:rPr>
              <a:t>將</a:t>
            </a:r>
            <a:r>
              <a:rPr lang="en-US" altLang="zh-TW" sz="2000" dirty="0" err="1">
                <a:ea typeface="微軟正黑體" panose="020B0604030504040204" pitchFamily="34" charset="-120"/>
              </a:rPr>
              <a:t>ReuseScore</a:t>
            </a:r>
            <a:r>
              <a:rPr lang="en-US" altLang="zh-TW" sz="2000" dirty="0">
                <a:ea typeface="微軟正黑體" panose="020B0604030504040204" pitchFamily="34" charset="-120"/>
              </a:rPr>
              <a:t>(p)</a:t>
            </a:r>
            <a:r>
              <a:rPr lang="zh-TW" altLang="en-US" sz="2000" dirty="0">
                <a:ea typeface="微軟正黑體" panose="020B0604030504040204" pitchFamily="34" charset="-120"/>
              </a:rPr>
              <a:t>在這個值以下</a:t>
            </a:r>
            <a:r>
              <a:rPr lang="en-US" altLang="zh-TW" sz="2000" dirty="0"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ea typeface="微軟正黑體" panose="020B0604030504040204" pitchFamily="34" charset="-120"/>
              </a:rPr>
              <a:t>的列入</a:t>
            </a:r>
            <a:r>
              <a:rPr lang="en-US" altLang="zh-TW" sz="2000" dirty="0" err="1">
                <a:ea typeface="微軟正黑體" panose="020B0604030504040204" pitchFamily="34" charset="-120"/>
              </a:rPr>
              <a:t>CandidateSet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依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Dirty Eviction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比例調整懲罰係數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(Dirty Penalty)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從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Candidate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中選取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Cost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最低的進行淘汰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511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9A5B-5641-9530-8951-5556DDB8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07C4FCD-A5E2-9194-C6E5-51433AE0843D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1495CE-C055-9E39-922C-7463C9C6E7F2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B75221-8FD0-C00F-EFB6-BE8799483A4D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47D8D1-0180-D511-5F27-3BFE86D249A9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963276-66DE-8FE5-9D01-79E7EB5BAB40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F4CD6390-A4D5-E305-EFF5-2207752CB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60FE3854-B56A-0FB2-1558-023D0E9F6A0B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720183B-C1C8-F706-DBDB-8E778E0E4686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B168DC57-C4FF-CCEB-4748-34E03AD18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20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05C302-648E-1742-4024-C4FEF7AB63A5}"/>
              </a:ext>
            </a:extLst>
          </p:cNvPr>
          <p:cNvSpPr/>
          <p:nvPr/>
        </p:nvSpPr>
        <p:spPr>
          <a:xfrm>
            <a:off x="529196" y="1094379"/>
            <a:ext cx="10912643" cy="4197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 startAt="3"/>
            </a:pPr>
            <a:r>
              <a:rPr lang="zh-TW" altLang="en-US" sz="2000" dirty="0">
                <a:ea typeface="微軟正黑體" panose="020B0604030504040204" pitchFamily="34" charset="-120"/>
              </a:rPr>
              <a:t>演算法運作流程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用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Sliding Window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紀錄近期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出現頻率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考慮近期出現頻率跟近期使用率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賦予權重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，評估保留價值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篩選保留價值低的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Pages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作為候選人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(Candidate)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依</a:t>
            </a:r>
            <a:r>
              <a:rPr lang="en-US" altLang="zh-TW" sz="2000" dirty="0">
                <a:ea typeface="微軟正黑體" panose="020B0604030504040204" pitchFamily="34" charset="-120"/>
              </a:rPr>
              <a:t>Dirty Eviction</a:t>
            </a:r>
            <a:r>
              <a:rPr lang="zh-TW" altLang="en-US" sz="2000" dirty="0">
                <a:ea typeface="微軟正黑體" panose="020B0604030504040204" pitchFamily="34" charset="-120"/>
              </a:rPr>
              <a:t>比例調整懲罰係數</a:t>
            </a:r>
            <a:r>
              <a:rPr lang="en-US" altLang="zh-TW" sz="2000" dirty="0">
                <a:ea typeface="微軟正黑體" panose="020B0604030504040204" pitchFamily="34" charset="-120"/>
              </a:rPr>
              <a:t>(Dirty Penalty)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P = 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DirtyEviction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 / 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HistoryEviction</a:t>
            </a:r>
            <a:r>
              <a:rPr lang="en-US" altLang="zh-TW" sz="2000" dirty="0">
                <a:ea typeface="微軟正黑體" panose="020B0604030504040204" pitchFamily="34" charset="-120"/>
              </a:rPr>
              <a:t> (</a:t>
            </a:r>
            <a:r>
              <a:rPr lang="zh-TW" altLang="en-US" sz="2000" dirty="0">
                <a:ea typeface="微軟正黑體" panose="020B0604030504040204" pitchFamily="34" charset="-120"/>
              </a:rPr>
              <a:t>近期淘汰事件中產生</a:t>
            </a:r>
            <a:r>
              <a:rPr lang="en-US" altLang="zh-TW" sz="2000" dirty="0">
                <a:ea typeface="微軟正黑體" panose="020B0604030504040204" pitchFamily="34" charset="-120"/>
              </a:rPr>
              <a:t>Disk Write</a:t>
            </a:r>
            <a:r>
              <a:rPr lang="zh-TW" altLang="en-US" sz="2000" dirty="0">
                <a:ea typeface="微軟正黑體" panose="020B0604030504040204" pitchFamily="34" charset="-120"/>
              </a:rPr>
              <a:t>次數</a:t>
            </a:r>
            <a:r>
              <a:rPr lang="en-US" altLang="zh-TW" sz="2000" dirty="0">
                <a:ea typeface="微軟正黑體" panose="020B0604030504040204" pitchFamily="34" charset="-120"/>
              </a:rPr>
              <a:t>)</a:t>
            </a: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zh-TW" altLang="en-US" sz="2000" dirty="0">
                <a:ea typeface="微軟正黑體" panose="020B0604030504040204" pitchFamily="34" charset="-120"/>
              </a:rPr>
              <a:t> </a:t>
            </a:r>
            <a:r>
              <a:rPr lang="el-GR" altLang="zh-TW" sz="2000" b="1" i="1" dirty="0">
                <a:ea typeface="微軟正黑體" panose="020B0604030504040204" pitchFamily="34" charset="-120"/>
              </a:rPr>
              <a:t>λ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=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0.15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+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0.55P</a:t>
            </a:r>
            <a:r>
              <a:rPr lang="zh-TW" altLang="en-US" sz="2000" b="1" i="1" dirty="0"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</a:rPr>
              <a:t>(Dirty Penalty)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從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Candidate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中選取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Cost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最低的進行淘汰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11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EFB39-A66D-F31B-1118-EA169BDB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94BC5A5-2E66-332F-3968-8927382BBA81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7951EB-6113-B625-CB05-62B73FBA7BCB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9DFBF3-218C-46BE-0856-9BE301F5B065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BF51B7-4968-6CDB-D11E-AE3DEA0A5EDA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7F4A7C-0D48-3CE3-2270-61D4D1B0B82D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B697CC63-2A81-6C1E-0290-157AF3CBA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Implement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CB5A03F3-99B3-E592-9496-EB76DA108983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5766F41-E896-7CE3-1618-9B35930F77A6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7BEA3623-D56D-6D9E-E974-77A7A80F2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21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78CC47-C91B-C0D9-638C-8EB0552F6E2E}"/>
              </a:ext>
            </a:extLst>
          </p:cNvPr>
          <p:cNvSpPr/>
          <p:nvPr/>
        </p:nvSpPr>
        <p:spPr>
          <a:xfrm>
            <a:off x="529196" y="1094379"/>
            <a:ext cx="10912643" cy="373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Algorithm</a:t>
            </a:r>
          </a:p>
          <a:p>
            <a:pPr lvl="1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eriod" startAt="3"/>
            </a:pPr>
            <a:r>
              <a:rPr lang="zh-TW" altLang="en-US" sz="2000" dirty="0">
                <a:ea typeface="微軟正黑體" panose="020B0604030504040204" pitchFamily="34" charset="-120"/>
              </a:rPr>
              <a:t>演算法運作流程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用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Sliding Window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紀錄近期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出現頻率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考慮近期出現頻率跟近期使用率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賦予權重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，評估保留價值</a:t>
            </a:r>
            <a:endParaRPr lang="en-US" altLang="zh-TW" sz="2000" dirty="0">
              <a:solidFill>
                <a:schemeClr val="bg2">
                  <a:lumMod val="75000"/>
                </a:schemeClr>
              </a:solidFill>
              <a:ea typeface="微軟正黑體" panose="020B0604030504040204" pitchFamily="34" charset="-120"/>
            </a:endParaRP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篩選保留價值低的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Pages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作為候選人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(Candidate)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依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Dirty Eviction</a:t>
            </a:r>
            <a:r>
              <a:rPr lang="zh-TW" altLang="en-US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比例調整懲罰係數</a:t>
            </a:r>
            <a:r>
              <a:rPr lang="en-US" altLang="zh-TW" sz="2000" dirty="0">
                <a:solidFill>
                  <a:schemeClr val="bg2">
                    <a:lumMod val="75000"/>
                  </a:schemeClr>
                </a:solidFill>
                <a:ea typeface="微軟正黑體" panose="020B0604030504040204" pitchFamily="34" charset="-120"/>
              </a:rPr>
              <a:t>(Dirty Penalty)</a:t>
            </a:r>
          </a:p>
          <a:p>
            <a:pPr lvl="2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lphaLcPeriod"/>
            </a:pPr>
            <a:r>
              <a:rPr lang="zh-TW" altLang="en-US" sz="2000" dirty="0">
                <a:ea typeface="微軟正黑體" panose="020B0604030504040204" pitchFamily="34" charset="-120"/>
              </a:rPr>
              <a:t>從</a:t>
            </a:r>
            <a:r>
              <a:rPr lang="en-US" altLang="zh-TW" sz="2000" dirty="0">
                <a:ea typeface="微軟正黑體" panose="020B0604030504040204" pitchFamily="34" charset="-120"/>
              </a:rPr>
              <a:t>Candidate</a:t>
            </a:r>
            <a:r>
              <a:rPr lang="zh-TW" altLang="en-US" sz="2000" dirty="0">
                <a:ea typeface="微軟正黑體" panose="020B0604030504040204" pitchFamily="34" charset="-120"/>
              </a:rPr>
              <a:t>中選取</a:t>
            </a:r>
            <a:r>
              <a:rPr lang="en-US" altLang="zh-TW" sz="2000" dirty="0">
                <a:ea typeface="微軟正黑體" panose="020B0604030504040204" pitchFamily="34" charset="-120"/>
              </a:rPr>
              <a:t>Cost</a:t>
            </a:r>
            <a:r>
              <a:rPr lang="zh-TW" altLang="en-US" sz="2000" dirty="0">
                <a:ea typeface="微軟正黑體" panose="020B0604030504040204" pitchFamily="34" charset="-120"/>
              </a:rPr>
              <a:t>最低的進行淘汰</a:t>
            </a:r>
            <a:endParaRPr lang="en-US" altLang="zh-TW" sz="2000" dirty="0">
              <a:ea typeface="微軟正黑體" panose="020B0604030504040204" pitchFamily="34" charset="-120"/>
            </a:endParaRPr>
          </a:p>
          <a:p>
            <a:pPr lvl="3" indent="-457200" algn="just">
              <a:lnSpc>
                <a:spcPct val="150000"/>
              </a:lnSpc>
              <a:buClr>
                <a:srgbClr val="35A0BD"/>
              </a:buClr>
              <a:buFont typeface="+mj-lt"/>
              <a:buAutoNum type="arabicParenR"/>
            </a:pPr>
            <a:r>
              <a:rPr lang="en-US" altLang="zh-TW" sz="2000" dirty="0">
                <a:ea typeface="微軟正黑體" panose="020B0604030504040204" pitchFamily="34" charset="-120"/>
              </a:rPr>
              <a:t> 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Cost(p) = </a:t>
            </a:r>
            <a:r>
              <a:rPr lang="en-US" altLang="zh-TW" sz="2000" b="1" i="1" dirty="0" err="1">
                <a:ea typeface="微軟正黑體" panose="020B0604030504040204" pitchFamily="34" charset="-120"/>
              </a:rPr>
              <a:t>ReuseScore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(p) + </a:t>
            </a:r>
            <a:r>
              <a:rPr lang="el-GR" altLang="zh-TW" sz="2000" b="1" i="1" dirty="0">
                <a:ea typeface="微軟正黑體" panose="020B0604030504040204" pitchFamily="34" charset="-120"/>
              </a:rPr>
              <a:t>λ</a:t>
            </a:r>
            <a:r>
              <a:rPr lang="en-US" altLang="zh-TW" sz="2000" b="1" i="1" dirty="0">
                <a:ea typeface="微軟正黑體" panose="020B0604030504040204" pitchFamily="34" charset="-120"/>
              </a:rPr>
              <a:t>D(p) </a:t>
            </a:r>
            <a:r>
              <a:rPr lang="en-US" altLang="zh-TW" sz="2000" dirty="0"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ea typeface="微軟正黑體" panose="020B0604030504040204" pitchFamily="34" charset="-120"/>
              </a:rPr>
              <a:t>淘汰最低</a:t>
            </a:r>
            <a:r>
              <a:rPr lang="en-US" altLang="zh-TW" sz="2000" dirty="0">
                <a:ea typeface="微軟正黑體" panose="020B0604030504040204" pitchFamily="34" charset="-120"/>
              </a:rPr>
              <a:t>Cost</a:t>
            </a:r>
            <a:r>
              <a:rPr lang="zh-TW" altLang="en-US" sz="2000" dirty="0">
                <a:ea typeface="微軟正黑體" panose="020B0604030504040204" pitchFamily="34" charset="-120"/>
              </a:rPr>
              <a:t>的</a:t>
            </a:r>
            <a:r>
              <a:rPr lang="en-US" altLang="zh-TW" sz="2000" dirty="0">
                <a:ea typeface="微軟正黑體" panose="020B0604030504040204" pitchFamily="34" charset="-120"/>
              </a:rPr>
              <a:t>Page)</a:t>
            </a:r>
          </a:p>
        </p:txBody>
      </p:sp>
    </p:spTree>
    <p:extLst>
      <p:ext uri="{BB962C8B-B14F-4D97-AF65-F5344CB8AC3E}">
        <p14:creationId xmlns:p14="http://schemas.microsoft.com/office/powerpoint/2010/main" val="389194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3069-F3E1-3BD9-727F-F072F4C2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5E2E60D-7490-B312-48E7-76CA4E5596E6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5AC250-A64D-2777-4131-3257A9367C88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D7E7DA-C2A7-C270-6AF8-51A15BA380DA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0D42D3-3DF0-ABA5-4790-919AF6FFC9B3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B05369-1B29-A6EC-1BD2-9A7FC2EE777D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7700F987-1A76-8A58-C21B-3BA0D0174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5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Results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0B8D0DD2-51C3-CA8D-F5A5-29948E26E502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3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D994070-A9B1-6B4C-0BD1-F705678652E3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FA54714B-61B1-9426-A2F8-7D92426B5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22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678B08-839D-5C98-D8BB-EDE330ED0335}"/>
              </a:ext>
            </a:extLst>
          </p:cNvPr>
          <p:cNvSpPr/>
          <p:nvPr/>
        </p:nvSpPr>
        <p:spPr>
          <a:xfrm>
            <a:off x="2586250" y="2472103"/>
            <a:ext cx="7019500" cy="1913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50000"/>
              </a:lnSpc>
              <a:buClr>
                <a:srgbClr val="35A0BD"/>
              </a:buClr>
            </a:pPr>
            <a:r>
              <a:rPr lang="en-US" altLang="zh-TW" sz="8800" dirty="0">
                <a:ea typeface="微軟正黑體" panose="020B0604030504040204" pitchFamily="34" charset="-12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51834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A9DB-2CF4-D704-B867-2989D71A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73078EE-D508-917B-105B-AA35FD676974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5E4D71-D82D-CCE6-B579-6D2B1F4FBA4D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0E555E-5E6C-F553-E8B1-32EC016082EB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FA814C-9488-3FCC-2787-F97A46556665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62693C-5DB0-FCE6-C223-A962010BAAB5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17A0121F-F4A1-9272-66F8-4F2E5FF54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Result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06D5A827-CA94-153A-1A4A-EA72C7EA9C1F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6CDAC66-E6C1-EB5C-ACAE-6ECD9ED7BCFC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48093681-D51D-B29B-B632-C58A33EE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23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498A09-E476-67DA-3BB1-614BCCE6BA35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Random Page Reference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8847CF-E7CA-7014-619E-777663FEE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363" y="734876"/>
            <a:ext cx="5007273" cy="306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A777BBC-28BC-E0C2-0E0B-EF73527D2C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626" y="3631257"/>
            <a:ext cx="5007273" cy="30600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269B13A-4509-B849-5A81-210CF8469C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96" y="3631257"/>
            <a:ext cx="5007272" cy="306000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6123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DAAE-7997-642A-EEFC-FEFE4C719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6CDAEB5-0E41-84B9-BFB4-E31CD09C2E9F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3E27F5-381C-7E02-2CC6-5231BF1CD1FD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94128A-5D82-25A1-150D-E939955561B1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330F5F-E2EE-F3F4-69F4-B0DFA1B452E5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3526-5602-A81B-82E4-37578BA998ED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82658342-BA70-CA62-3CCA-19D2EF68B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Result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1863031E-DC8D-6DD8-68BF-66B8F545DC3E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5AEB0ED-157E-19B5-A5F8-6AE1BF20C279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C0BA9D09-B51F-C4D9-F5BF-386F99D50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24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1CB958-35A5-960A-F0B1-E3A913F68F70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Locality Page Reference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B50FB63-4212-8BC7-BFDD-574C71AB79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364" y="739188"/>
            <a:ext cx="5007273" cy="3060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EF405A0-59A1-451E-1CD0-F90575A28C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979" y="3631257"/>
            <a:ext cx="5007273" cy="306000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165EB5E-ED55-3F9F-1562-B2536676A9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96" y="3631257"/>
            <a:ext cx="5007273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3004-F4DA-488D-2D14-1B9B003F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D71B991-4800-2F49-A34C-F7014098DD6C}"/>
              </a:ext>
            </a:extLst>
          </p:cNvPr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02FD96-BE92-5191-5FD4-547D14440589}"/>
              </a:ext>
            </a:extLst>
          </p:cNvPr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39B01F-97F9-C5B3-6DAC-FD05DDE2F5AD}"/>
              </a:ext>
            </a:extLst>
          </p:cNvPr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A3BB86-1908-52DB-D899-14793211DB0E}"/>
              </a:ext>
            </a:extLst>
          </p:cNvPr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F971BA-C998-5E22-02F2-D05C9368C9D2}"/>
              </a:ext>
            </a:extLst>
          </p:cNvPr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>
            <a:extLst>
              <a:ext uri="{FF2B5EF4-FFF2-40B4-BE49-F238E27FC236}">
                <a16:creationId xmlns:a16="http://schemas.microsoft.com/office/drawing/2014/main" id="{DB3A62AA-14BA-5EEF-2320-CAF2EE315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156" y="354451"/>
            <a:ext cx="2668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Result</a:t>
            </a:r>
          </a:p>
        </p:txBody>
      </p:sp>
      <p:cxnSp>
        <p:nvCxnSpPr>
          <p:cNvPr id="13" name="直接连接符 51">
            <a:extLst>
              <a:ext uri="{FF2B5EF4-FFF2-40B4-BE49-F238E27FC236}">
                <a16:creationId xmlns:a16="http://schemas.microsoft.com/office/drawing/2014/main" id="{EA69191E-3823-617F-AA36-4076404A9F42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012164" y="616061"/>
            <a:ext cx="789452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94F4602-88DF-EC80-51F9-E4F4C20A59EC}"/>
              </a:ext>
            </a:extLst>
          </p:cNvPr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>
            <a:extLst>
              <a:ext uri="{FF2B5EF4-FFF2-40B4-BE49-F238E27FC236}">
                <a16:creationId xmlns:a16="http://schemas.microsoft.com/office/drawing/2014/main" id="{BD6D3FED-4525-8BEF-B997-3268F7886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25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FEEFEF-2A55-5AC9-F84E-C4167E2450A4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Custom Page Reference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1885B5-5BD3-97B0-F04D-6EE26081AF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364" y="739188"/>
            <a:ext cx="5007273" cy="306000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873F1DB-07CA-84B2-F841-B0DD4C90CB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978" y="3631257"/>
            <a:ext cx="5007273" cy="306000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77A26F76-E16F-5805-A45E-B818B77221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6" y="3631257"/>
            <a:ext cx="5007273" cy="306000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4084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37740</TotalTime>
  <Words>883</Words>
  <Application>Microsoft Office PowerPoint</Application>
  <PresentationFormat>寬螢幕</PresentationFormat>
  <Paragraphs>184</Paragraphs>
  <Slides>25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3" baseType="lpstr">
      <vt:lpstr>微软雅黑</vt:lpstr>
      <vt:lpstr>微軟正黑體</vt:lpstr>
      <vt:lpstr>Arial</vt:lpstr>
      <vt:lpstr>Calibri</vt:lpstr>
      <vt:lpstr>Calibri Light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張廷安</dc:creator>
  <cp:lastModifiedBy>台南分行-永豐銀行</cp:lastModifiedBy>
  <cp:revision>1080</cp:revision>
  <dcterms:created xsi:type="dcterms:W3CDTF">2021-08-31T00:13:08Z</dcterms:created>
  <dcterms:modified xsi:type="dcterms:W3CDTF">2026-10-21T14:07:03Z</dcterms:modified>
</cp:coreProperties>
</file>